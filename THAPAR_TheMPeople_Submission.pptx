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ial Bold" charset="1" panose="020B0704020202020204"/>
      <p:regular r:id="rId20"/>
    </p:embeddedFont>
    <p:embeddedFont>
      <p:font typeface="Calibri (MS) Bold" charset="1" panose="020F0702030404030204"/>
      <p:regular r:id="rId21"/>
    </p:embeddedFont>
    <p:embeddedFont>
      <p:font typeface="Calibri (MS)" charset="1" panose="020F050202020403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Opening slide for the 3rd edition of the PRISM Generative AI Hackathon. Replace the SAMSUNG PRISM pill with the official PRISM logo image if you have the asset. Confirm the academic year label (2026-27) before circulating.</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https://github.com/Mehatva/PRISM-GenAI-Hackathon-Theme5" TargetMode="External" Type="http://schemas.openxmlformats.org/officeDocument/2006/relationships/hyperlink"/><Relationship Id="rId5"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56335" y="1005459"/>
            <a:ext cx="3653790" cy="540258"/>
            <a:chOff x="0" y="0"/>
            <a:chExt cx="4871720" cy="720344"/>
          </a:xfrm>
        </p:grpSpPr>
        <p:sp>
          <p:nvSpPr>
            <p:cNvPr name="Freeform 3" id="3"/>
            <p:cNvSpPr/>
            <p:nvPr/>
          </p:nvSpPr>
          <p:spPr>
            <a:xfrm flipH="false" flipV="false" rot="0">
              <a:off x="0" y="0"/>
              <a:ext cx="4871720" cy="720344"/>
            </a:xfrm>
            <a:custGeom>
              <a:avLst/>
              <a:gdLst/>
              <a:ahLst/>
              <a:cxnLst/>
              <a:rect r="r" b="b" t="t" l="l"/>
              <a:pathLst>
                <a:path h="720344" w="4871720">
                  <a:moveTo>
                    <a:pt x="0" y="360172"/>
                  </a:moveTo>
                  <a:cubicBezTo>
                    <a:pt x="0" y="161290"/>
                    <a:pt x="161290" y="0"/>
                    <a:pt x="360172" y="0"/>
                  </a:cubicBezTo>
                  <a:lnTo>
                    <a:pt x="4511548" y="0"/>
                  </a:lnTo>
                  <a:cubicBezTo>
                    <a:pt x="4710430" y="0"/>
                    <a:pt x="4871720" y="161290"/>
                    <a:pt x="4871720" y="360172"/>
                  </a:cubicBezTo>
                  <a:cubicBezTo>
                    <a:pt x="4871720" y="559054"/>
                    <a:pt x="4710430" y="720344"/>
                    <a:pt x="4511548" y="720344"/>
                  </a:cubicBezTo>
                  <a:lnTo>
                    <a:pt x="360172" y="720344"/>
                  </a:lnTo>
                  <a:cubicBezTo>
                    <a:pt x="161290" y="720344"/>
                    <a:pt x="0" y="559054"/>
                    <a:pt x="0" y="360172"/>
                  </a:cubicBezTo>
                  <a:close/>
                </a:path>
              </a:pathLst>
            </a:custGeom>
            <a:solidFill>
              <a:srgbClr val="FFFFFF"/>
            </a:solidFill>
            <a:ln w="19050" cap="sq">
              <a:solidFill>
                <a:srgbClr val="D9D3F0"/>
              </a:solidFill>
              <a:prstDash val="solid"/>
              <a:miter/>
            </a:ln>
          </p:spPr>
        </p:sp>
      </p:grpSp>
      <p:grpSp>
        <p:nvGrpSpPr>
          <p:cNvPr name="Group 4" id="4"/>
          <p:cNvGrpSpPr/>
          <p:nvPr/>
        </p:nvGrpSpPr>
        <p:grpSpPr>
          <a:xfrm rot="0">
            <a:off x="1165860" y="1014984"/>
            <a:ext cx="3634740" cy="521208"/>
            <a:chOff x="0" y="0"/>
            <a:chExt cx="4846320" cy="694944"/>
          </a:xfrm>
        </p:grpSpPr>
        <p:sp>
          <p:nvSpPr>
            <p:cNvPr name="Freeform 5" id="5"/>
            <p:cNvSpPr/>
            <p:nvPr/>
          </p:nvSpPr>
          <p:spPr>
            <a:xfrm flipH="false" flipV="false" rot="0">
              <a:off x="0" y="0"/>
              <a:ext cx="4846320" cy="694944"/>
            </a:xfrm>
            <a:custGeom>
              <a:avLst/>
              <a:gdLst/>
              <a:ahLst/>
              <a:cxnLst/>
              <a:rect r="r" b="b" t="t" l="l"/>
              <a:pathLst>
                <a:path h="694944" w="4846320">
                  <a:moveTo>
                    <a:pt x="0" y="0"/>
                  </a:moveTo>
                  <a:lnTo>
                    <a:pt x="4846320" y="0"/>
                  </a:lnTo>
                  <a:lnTo>
                    <a:pt x="4846320" y="694944"/>
                  </a:lnTo>
                  <a:lnTo>
                    <a:pt x="0" y="694944"/>
                  </a:lnTo>
                  <a:close/>
                </a:path>
              </a:pathLst>
            </a:custGeom>
            <a:blipFill>
              <a:blip r:embed="rId3">
                <a:alphaModFix amt="0"/>
              </a:blip>
              <a:stretch>
                <a:fillRect l="0" t="-85882" r="0" b="-85882"/>
              </a:stretch>
            </a:blipFill>
          </p:spPr>
        </p:sp>
        <p:sp>
          <p:nvSpPr>
            <p:cNvPr name="TextBox 6" id="6"/>
            <p:cNvSpPr txBox="true"/>
            <p:nvPr/>
          </p:nvSpPr>
          <p:spPr>
            <a:xfrm>
              <a:off x="0" y="-19050"/>
              <a:ext cx="4846320" cy="713994"/>
            </a:xfrm>
            <a:prstGeom prst="rect">
              <a:avLst/>
            </a:prstGeom>
          </p:spPr>
          <p:txBody>
            <a:bodyPr anchor="ctr" rtlCol="false" tIns="0" lIns="0" bIns="0" rIns="0"/>
            <a:lstStyle/>
            <a:p>
              <a:pPr algn="ctr">
                <a:lnSpc>
                  <a:spcPts val="1980"/>
                </a:lnSpc>
              </a:pPr>
              <a:r>
                <a:rPr lang="en-US" b="true" sz="1650" spc="165">
                  <a:solidFill>
                    <a:srgbClr val="6D28D9"/>
                  </a:solidFill>
                  <a:latin typeface="Arial Bold"/>
                  <a:ea typeface="Arial Bold"/>
                  <a:cs typeface="Arial Bold"/>
                  <a:sym typeface="Arial Bold"/>
                </a:rPr>
                <a:t>SAMSUNG PRISM</a:t>
              </a:r>
            </a:p>
          </p:txBody>
        </p:sp>
      </p:grpSp>
      <p:grpSp>
        <p:nvGrpSpPr>
          <p:cNvPr name="Group 7" id="7"/>
          <p:cNvGrpSpPr/>
          <p:nvPr/>
        </p:nvGrpSpPr>
        <p:grpSpPr>
          <a:xfrm rot="0">
            <a:off x="1165860" y="1810512"/>
            <a:ext cx="9189720" cy="1124712"/>
            <a:chOff x="0" y="0"/>
            <a:chExt cx="12252960" cy="1499616"/>
          </a:xfrm>
        </p:grpSpPr>
        <p:sp>
          <p:nvSpPr>
            <p:cNvPr name="Freeform 8" id="8"/>
            <p:cNvSpPr/>
            <p:nvPr/>
          </p:nvSpPr>
          <p:spPr>
            <a:xfrm flipH="false" flipV="false" rot="0">
              <a:off x="0" y="0"/>
              <a:ext cx="12252960" cy="1499616"/>
            </a:xfrm>
            <a:custGeom>
              <a:avLst/>
              <a:gdLst/>
              <a:ahLst/>
              <a:cxnLst/>
              <a:rect r="r" b="b" t="t" l="l"/>
              <a:pathLst>
                <a:path h="1499616" w="12252960">
                  <a:moveTo>
                    <a:pt x="0" y="0"/>
                  </a:moveTo>
                  <a:lnTo>
                    <a:pt x="12252960" y="0"/>
                  </a:lnTo>
                  <a:lnTo>
                    <a:pt x="12252960" y="1499616"/>
                  </a:lnTo>
                  <a:lnTo>
                    <a:pt x="0" y="1499616"/>
                  </a:lnTo>
                  <a:close/>
                </a:path>
              </a:pathLst>
            </a:custGeom>
            <a:blipFill>
              <a:blip r:embed="rId3">
                <a:alphaModFix amt="0"/>
              </a:blip>
              <a:stretch>
                <a:fillRect l="0" t="-109207" r="0" b="-109207"/>
              </a:stretch>
            </a:blipFill>
          </p:spPr>
        </p:sp>
        <p:sp>
          <p:nvSpPr>
            <p:cNvPr name="TextBox 9" id="9"/>
            <p:cNvSpPr txBox="true"/>
            <p:nvPr/>
          </p:nvSpPr>
          <p:spPr>
            <a:xfrm>
              <a:off x="0" y="-47625"/>
              <a:ext cx="12252960" cy="1547241"/>
            </a:xfrm>
            <a:prstGeom prst="rect">
              <a:avLst/>
            </a:prstGeom>
          </p:spPr>
          <p:txBody>
            <a:bodyPr anchor="ctr" rtlCol="false" tIns="0" lIns="0" bIns="0" rIns="0"/>
            <a:lstStyle/>
            <a:p>
              <a:pPr algn="l">
                <a:lnSpc>
                  <a:spcPts val="9000"/>
                </a:lnSpc>
              </a:pPr>
              <a:r>
                <a:rPr lang="en-US" sz="7500" b="true">
                  <a:solidFill>
                    <a:srgbClr val="14142B"/>
                  </a:solidFill>
                  <a:latin typeface="Arial Bold"/>
                  <a:ea typeface="Arial Bold"/>
                  <a:cs typeface="Arial Bold"/>
                  <a:sym typeface="Arial Bold"/>
                </a:rPr>
                <a:t>Generative AI</a:t>
              </a:r>
            </a:p>
          </p:txBody>
        </p:sp>
      </p:grpSp>
      <p:grpSp>
        <p:nvGrpSpPr>
          <p:cNvPr name="Group 10" id="10"/>
          <p:cNvGrpSpPr/>
          <p:nvPr/>
        </p:nvGrpSpPr>
        <p:grpSpPr>
          <a:xfrm rot="0">
            <a:off x="1165860" y="2852928"/>
            <a:ext cx="9189720" cy="1124712"/>
            <a:chOff x="0" y="0"/>
            <a:chExt cx="12252960" cy="1499616"/>
          </a:xfrm>
        </p:grpSpPr>
        <p:sp>
          <p:nvSpPr>
            <p:cNvPr name="Freeform 11" id="11"/>
            <p:cNvSpPr/>
            <p:nvPr/>
          </p:nvSpPr>
          <p:spPr>
            <a:xfrm flipH="false" flipV="false" rot="0">
              <a:off x="0" y="0"/>
              <a:ext cx="12252960" cy="1499616"/>
            </a:xfrm>
            <a:custGeom>
              <a:avLst/>
              <a:gdLst/>
              <a:ahLst/>
              <a:cxnLst/>
              <a:rect r="r" b="b" t="t" l="l"/>
              <a:pathLst>
                <a:path h="1499616" w="12252960">
                  <a:moveTo>
                    <a:pt x="0" y="0"/>
                  </a:moveTo>
                  <a:lnTo>
                    <a:pt x="12252960" y="0"/>
                  </a:lnTo>
                  <a:lnTo>
                    <a:pt x="12252960" y="1499616"/>
                  </a:lnTo>
                  <a:lnTo>
                    <a:pt x="0" y="1499616"/>
                  </a:lnTo>
                  <a:close/>
                </a:path>
              </a:pathLst>
            </a:custGeom>
            <a:blipFill>
              <a:blip r:embed="rId3">
                <a:alphaModFix amt="0"/>
              </a:blip>
              <a:stretch>
                <a:fillRect l="0" t="-109207" r="0" b="-109207"/>
              </a:stretch>
            </a:blipFill>
          </p:spPr>
        </p:sp>
        <p:sp>
          <p:nvSpPr>
            <p:cNvPr name="TextBox 12" id="12"/>
            <p:cNvSpPr txBox="true"/>
            <p:nvPr/>
          </p:nvSpPr>
          <p:spPr>
            <a:xfrm>
              <a:off x="0" y="-47625"/>
              <a:ext cx="12252960" cy="1547241"/>
            </a:xfrm>
            <a:prstGeom prst="rect">
              <a:avLst/>
            </a:prstGeom>
          </p:spPr>
          <p:txBody>
            <a:bodyPr anchor="ctr" rtlCol="false" tIns="0" lIns="0" bIns="0" rIns="0"/>
            <a:lstStyle/>
            <a:p>
              <a:pPr algn="l">
                <a:lnSpc>
                  <a:spcPts val="9000"/>
                </a:lnSpc>
              </a:pPr>
              <a:r>
                <a:rPr lang="en-US" sz="7500" b="true">
                  <a:solidFill>
                    <a:srgbClr val="6D28D9"/>
                  </a:solidFill>
                  <a:latin typeface="Arial Bold"/>
                  <a:ea typeface="Arial Bold"/>
                  <a:cs typeface="Arial Bold"/>
                  <a:sym typeface="Arial Bold"/>
                </a:rPr>
                <a:t>Hackathon</a:t>
              </a:r>
            </a:p>
          </p:txBody>
        </p:sp>
      </p:grpSp>
      <p:grpSp>
        <p:nvGrpSpPr>
          <p:cNvPr name="Group 13" id="13"/>
          <p:cNvGrpSpPr/>
          <p:nvPr/>
        </p:nvGrpSpPr>
        <p:grpSpPr>
          <a:xfrm rot="0">
            <a:off x="1165860" y="4087368"/>
            <a:ext cx="9189720" cy="685800"/>
            <a:chOff x="0" y="0"/>
            <a:chExt cx="12252960" cy="914400"/>
          </a:xfrm>
        </p:grpSpPr>
        <p:sp>
          <p:nvSpPr>
            <p:cNvPr name="Freeform 14" id="14"/>
            <p:cNvSpPr/>
            <p:nvPr/>
          </p:nvSpPr>
          <p:spPr>
            <a:xfrm flipH="false" flipV="false" rot="0">
              <a:off x="0" y="0"/>
              <a:ext cx="12252960" cy="914400"/>
            </a:xfrm>
            <a:custGeom>
              <a:avLst/>
              <a:gdLst/>
              <a:ahLst/>
              <a:cxnLst/>
              <a:rect r="r" b="b" t="t" l="l"/>
              <a:pathLst>
                <a:path h="914400" w="12252960">
                  <a:moveTo>
                    <a:pt x="0" y="0"/>
                  </a:moveTo>
                  <a:lnTo>
                    <a:pt x="12252960" y="0"/>
                  </a:lnTo>
                  <a:lnTo>
                    <a:pt x="12252960" y="914400"/>
                  </a:lnTo>
                  <a:lnTo>
                    <a:pt x="0" y="914400"/>
                  </a:lnTo>
                  <a:close/>
                </a:path>
              </a:pathLst>
            </a:custGeom>
            <a:blipFill>
              <a:blip r:embed="rId3">
                <a:alphaModFix amt="0"/>
              </a:blip>
              <a:stretch>
                <a:fillRect l="0" t="-211099" r="0" b="-211099"/>
              </a:stretch>
            </a:blipFill>
          </p:spPr>
        </p:sp>
        <p:sp>
          <p:nvSpPr>
            <p:cNvPr name="TextBox 15" id="15"/>
            <p:cNvSpPr txBox="true"/>
            <p:nvPr/>
          </p:nvSpPr>
          <p:spPr>
            <a:xfrm>
              <a:off x="0" y="-66675"/>
              <a:ext cx="12252960" cy="981075"/>
            </a:xfrm>
            <a:prstGeom prst="rect">
              <a:avLst/>
            </a:prstGeom>
          </p:spPr>
          <p:txBody>
            <a:bodyPr anchor="ctr" rtlCol="false" tIns="0" lIns="0" bIns="0" rIns="0"/>
            <a:lstStyle/>
            <a:p>
              <a:pPr algn="l">
                <a:lnSpc>
                  <a:spcPts val="3600"/>
                </a:lnSpc>
              </a:pPr>
              <a:r>
                <a:rPr lang="en-US" sz="3000" b="true">
                  <a:solidFill>
                    <a:srgbClr val="14142B"/>
                  </a:solidFill>
                  <a:latin typeface="Calibri (MS) Bold"/>
                  <a:ea typeface="Calibri (MS) Bold"/>
                  <a:cs typeface="Calibri (MS) Bold"/>
                  <a:sym typeface="Calibri (MS) Bold"/>
                </a:rPr>
                <a:t>3rd Edition</a:t>
              </a:r>
              <a:r>
                <a:rPr lang="en-US" sz="3000">
                  <a:solidFill>
                    <a:srgbClr val="63637E"/>
                  </a:solidFill>
                  <a:latin typeface="Calibri (MS)"/>
                  <a:ea typeface="Calibri (MS)"/>
                  <a:cs typeface="Calibri (MS)"/>
                  <a:sym typeface="Calibri (MS)"/>
                </a:rPr>
                <a:t>   2026 – 27</a:t>
              </a:r>
            </a:p>
          </p:txBody>
        </p:sp>
      </p:grpSp>
      <p:sp>
        <p:nvSpPr>
          <p:cNvPr name="TextBox 16" id="16"/>
          <p:cNvSpPr txBox="true"/>
          <p:nvPr/>
        </p:nvSpPr>
        <p:spPr>
          <a:xfrm rot="0">
            <a:off x="1165860" y="4876800"/>
            <a:ext cx="12225493" cy="4019550"/>
          </a:xfrm>
          <a:prstGeom prst="rect">
            <a:avLst/>
          </a:prstGeom>
        </p:spPr>
        <p:txBody>
          <a:bodyPr anchor="t" rtlCol="false" tIns="0" lIns="0" bIns="0" rIns="0">
            <a:spAutoFit/>
          </a:bodyPr>
          <a:lstStyle/>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Theme ID - 5</a:t>
            </a:r>
          </a:p>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Team Name - TheMPeople</a:t>
            </a:r>
          </a:p>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College Name - Thapar Institute of Engineering &amp; Technology</a:t>
            </a:r>
          </a:p>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Member Name &amp; Email 1-  Mannat Singh  </a:t>
            </a:r>
          </a:p>
          <a:p>
            <a:pPr algn="l">
              <a:lnSpc>
                <a:spcPts val="2879"/>
              </a:lnSpc>
            </a:pPr>
            <a:r>
              <a:rPr lang="en-US" sz="2400">
                <a:solidFill>
                  <a:srgbClr val="63637E"/>
                </a:solidFill>
                <a:latin typeface="Calibri (MS)"/>
                <a:ea typeface="Calibri (MS)"/>
                <a:cs typeface="Calibri (MS)"/>
                <a:sym typeface="Calibri (MS)"/>
              </a:rPr>
              <a:t>                                                       msingh4_be24@thapar.edu</a:t>
            </a:r>
          </a:p>
          <a:p>
            <a:pPr algn="l">
              <a:lnSpc>
                <a:spcPts val="2879"/>
              </a:lnSpc>
            </a:pPr>
          </a:p>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Member Name &amp; Email 2- Mehatva Mansukhani </a:t>
            </a:r>
          </a:p>
          <a:p>
            <a:pPr algn="l">
              <a:lnSpc>
                <a:spcPts val="2879"/>
              </a:lnSpc>
            </a:pPr>
            <a:r>
              <a:rPr lang="en-US" sz="2400">
                <a:solidFill>
                  <a:srgbClr val="63637E"/>
                </a:solidFill>
                <a:latin typeface="Calibri (MS)"/>
                <a:ea typeface="Calibri (MS)"/>
                <a:cs typeface="Calibri (MS)"/>
                <a:sym typeface="Calibri (MS)"/>
              </a:rPr>
              <a:t>                                                      mmansukhani_be24@thapar.edu </a:t>
            </a:r>
          </a:p>
          <a:p>
            <a:pPr algn="l">
              <a:lnSpc>
                <a:spcPts val="2879"/>
              </a:lnSpc>
            </a:pPr>
          </a:p>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Submission Github link -</a:t>
            </a:r>
            <a:r>
              <a:rPr lang="en-US" sz="2400" u="sng">
                <a:solidFill>
                  <a:srgbClr val="63637E"/>
                </a:solidFill>
                <a:latin typeface="Calibri (MS)"/>
                <a:ea typeface="Calibri (MS)"/>
                <a:cs typeface="Calibri (MS)"/>
                <a:sym typeface="Calibri (MS)"/>
                <a:hlinkClick r:id="rId4" tooltip="https://github.com/Mehatva/PRISM-GenAI-Hackathon-Theme5"/>
              </a:rPr>
              <a:t>  https://github.com/Mehatva/PRISM-GenAI-Hackathon-Theme5</a:t>
            </a:r>
          </a:p>
          <a:p>
            <a:pPr algn="l" marL="434340" indent="-217170" lvl="1">
              <a:lnSpc>
                <a:spcPts val="2879"/>
              </a:lnSpc>
            </a:pPr>
          </a:p>
        </p:txBody>
      </p:sp>
      <p:grpSp>
        <p:nvGrpSpPr>
          <p:cNvPr name="Group 17" id="17"/>
          <p:cNvGrpSpPr/>
          <p:nvPr/>
        </p:nvGrpSpPr>
        <p:grpSpPr>
          <a:xfrm rot="0">
            <a:off x="10588752" y="1577340"/>
            <a:ext cx="6858000" cy="6858000"/>
            <a:chOff x="0" y="0"/>
            <a:chExt cx="9144000" cy="9144000"/>
          </a:xfrm>
        </p:grpSpPr>
        <p:sp>
          <p:nvSpPr>
            <p:cNvPr name="Freeform 18" id="18" descr="hero_network.png"/>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5"/>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Theme</a:t>
              </a:r>
            </a:p>
          </p:txBody>
        </p:sp>
      </p:grpSp>
      <p:sp>
        <p:nvSpPr>
          <p:cNvPr name="Freeform 5" id="5"/>
          <p:cNvSpPr/>
          <p:nvPr/>
        </p:nvSpPr>
        <p:spPr>
          <a:xfrm flipH="false" flipV="false" rot="0">
            <a:off x="30379" y="0"/>
            <a:ext cx="18227243" cy="10287000"/>
          </a:xfrm>
          <a:custGeom>
            <a:avLst/>
            <a:gdLst/>
            <a:ahLst/>
            <a:cxnLst/>
            <a:rect r="r" b="b" t="t" l="l"/>
            <a:pathLst>
              <a:path h="10287000" w="18227243">
                <a:moveTo>
                  <a:pt x="0" y="0"/>
                </a:moveTo>
                <a:lnTo>
                  <a:pt x="18227242" y="0"/>
                </a:lnTo>
                <a:lnTo>
                  <a:pt x="18227242" y="10287000"/>
                </a:lnTo>
                <a:lnTo>
                  <a:pt x="0" y="10287000"/>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Existing Solutions &amp; Gaps</a:t>
              </a:r>
            </a:p>
          </p:txBody>
        </p:sp>
      </p:grpSp>
      <p:sp>
        <p:nvSpPr>
          <p:cNvPr name="Freeform 5" id="5"/>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64875" y="399774"/>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Our Solutions &amp; Architecture Diagram</a:t>
              </a:r>
            </a:p>
          </p:txBody>
        </p:sp>
      </p:grpSp>
      <p:sp>
        <p:nvSpPr>
          <p:cNvPr name="Freeform 5" id="5"/>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Demo &amp; Product Walkthrough</a:t>
              </a:r>
            </a:p>
          </p:txBody>
        </p:sp>
      </p:grpSp>
      <p:sp>
        <p:nvSpPr>
          <p:cNvPr name="Freeform 5" id="5"/>
          <p:cNvSpPr/>
          <p:nvPr/>
        </p:nvSpPr>
        <p:spPr>
          <a:xfrm flipH="false" flipV="false" rot="0">
            <a:off x="0" y="-17145"/>
            <a:ext cx="18257621" cy="10304145"/>
          </a:xfrm>
          <a:custGeom>
            <a:avLst/>
            <a:gdLst/>
            <a:ahLst/>
            <a:cxnLst/>
            <a:rect r="r" b="b" t="t" l="l"/>
            <a:pathLst>
              <a:path h="10304145" w="18257621">
                <a:moveTo>
                  <a:pt x="0" y="0"/>
                </a:moveTo>
                <a:lnTo>
                  <a:pt x="18257621" y="0"/>
                </a:lnTo>
                <a:lnTo>
                  <a:pt x="18257621" y="10304145"/>
                </a:lnTo>
                <a:lnTo>
                  <a:pt x="0" y="10304145"/>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Tools and tech stack used</a:t>
              </a:r>
            </a:p>
          </p:txBody>
        </p:sp>
      </p:grpSp>
      <p:sp>
        <p:nvSpPr>
          <p:cNvPr name="Freeform 5" id="5"/>
          <p:cNvSpPr/>
          <p:nvPr/>
        </p:nvSpPr>
        <p:spPr>
          <a:xfrm flipH="false" flipV="false" rot="0">
            <a:off x="20275" y="0"/>
            <a:ext cx="18267725" cy="10298430"/>
          </a:xfrm>
          <a:custGeom>
            <a:avLst/>
            <a:gdLst/>
            <a:ahLst/>
            <a:cxnLst/>
            <a:rect r="r" b="b" t="t" l="l"/>
            <a:pathLst>
              <a:path h="10298430" w="18267725">
                <a:moveTo>
                  <a:pt x="0" y="0"/>
                </a:moveTo>
                <a:lnTo>
                  <a:pt x="18267725" y="0"/>
                </a:lnTo>
                <a:lnTo>
                  <a:pt x="18267725" y="10298430"/>
                </a:lnTo>
                <a:lnTo>
                  <a:pt x="0" y="10298430"/>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5"/>
            <a:chOff x="0" y="0"/>
            <a:chExt cx="21031200" cy="2651126"/>
          </a:xfrm>
        </p:grpSpPr>
        <p:sp>
          <p:nvSpPr>
            <p:cNvPr name="Freeform 3" id="3"/>
            <p:cNvSpPr/>
            <p:nvPr/>
          </p:nvSpPr>
          <p:spPr>
            <a:xfrm flipH="false" flipV="false" rot="0">
              <a:off x="0" y="0"/>
              <a:ext cx="21031200" cy="2651127"/>
            </a:xfrm>
            <a:custGeom>
              <a:avLst/>
              <a:gdLst/>
              <a:ahLst/>
              <a:cxnLst/>
              <a:rect r="r" b="b" t="t" l="l"/>
              <a:pathLst>
                <a:path h="2651127" w="21031200">
                  <a:moveTo>
                    <a:pt x="0" y="0"/>
                  </a:moveTo>
                  <a:lnTo>
                    <a:pt x="21031200" y="0"/>
                  </a:lnTo>
                  <a:lnTo>
                    <a:pt x="21031200" y="2651127"/>
                  </a:lnTo>
                  <a:lnTo>
                    <a:pt x="0" y="2651127"/>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1"/>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Impact &amp; Use case</a:t>
              </a:r>
            </a:p>
          </p:txBody>
        </p:sp>
      </p:grpSp>
      <p:sp>
        <p:nvSpPr>
          <p:cNvPr name="Freeform 5" id="5"/>
          <p:cNvSpPr/>
          <p:nvPr/>
        </p:nvSpPr>
        <p:spPr>
          <a:xfrm flipH="false" flipV="false" rot="0">
            <a:off x="20275" y="0"/>
            <a:ext cx="18247450" cy="10287000"/>
          </a:xfrm>
          <a:custGeom>
            <a:avLst/>
            <a:gdLst/>
            <a:ahLst/>
            <a:cxnLst/>
            <a:rect r="r" b="b" t="t" l="l"/>
            <a:pathLst>
              <a:path h="10287000" w="18247450">
                <a:moveTo>
                  <a:pt x="0" y="0"/>
                </a:moveTo>
                <a:lnTo>
                  <a:pt x="18247450" y="0"/>
                </a:lnTo>
                <a:lnTo>
                  <a:pt x="18247450" y="10287000"/>
                </a:lnTo>
                <a:lnTo>
                  <a:pt x="0" y="10287000"/>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Innovation highlights, results and limitations</a:t>
              </a:r>
            </a:p>
          </p:txBody>
        </p:sp>
      </p:grpSp>
      <p:sp>
        <p:nvSpPr>
          <p:cNvPr name="Freeform 5" id="5"/>
          <p:cNvSpPr/>
          <p:nvPr/>
        </p:nvSpPr>
        <p:spPr>
          <a:xfrm flipH="false" flipV="false" rot="0">
            <a:off x="10149" y="0"/>
            <a:ext cx="18267703" cy="10287000"/>
          </a:xfrm>
          <a:custGeom>
            <a:avLst/>
            <a:gdLst/>
            <a:ahLst/>
            <a:cxnLst/>
            <a:rect r="r" b="b" t="t" l="l"/>
            <a:pathLst>
              <a:path h="10287000" w="18267703">
                <a:moveTo>
                  <a:pt x="0" y="0"/>
                </a:moveTo>
                <a:lnTo>
                  <a:pt x="18267702" y="0"/>
                </a:lnTo>
                <a:lnTo>
                  <a:pt x="18267702" y="10287000"/>
                </a:lnTo>
                <a:lnTo>
                  <a:pt x="0" y="10287000"/>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What’s next</a:t>
              </a:r>
            </a:p>
          </p:txBody>
        </p:sp>
      </p:grpSp>
      <p:sp>
        <p:nvSpPr>
          <p:cNvPr name="Freeform 5" id="5"/>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Brownie points slide( differentiation)</a:t>
              </a:r>
            </a:p>
          </p:txBody>
        </p:sp>
      </p:grpSp>
      <p:sp>
        <p:nvSpPr>
          <p:cNvPr name="Freeform 5" id="5"/>
          <p:cNvSpPr/>
          <p:nvPr/>
        </p:nvSpPr>
        <p:spPr>
          <a:xfrm flipH="false" flipV="false" rot="0">
            <a:off x="0" y="-5715"/>
            <a:ext cx="18288000" cy="10298430"/>
          </a:xfrm>
          <a:custGeom>
            <a:avLst/>
            <a:gdLst/>
            <a:ahLst/>
            <a:cxnLst/>
            <a:rect r="r" b="b" t="t" l="l"/>
            <a:pathLst>
              <a:path h="10298430" w="18288000">
                <a:moveTo>
                  <a:pt x="0" y="0"/>
                </a:moveTo>
                <a:lnTo>
                  <a:pt x="18288000" y="0"/>
                </a:lnTo>
                <a:lnTo>
                  <a:pt x="18288000" y="10298430"/>
                </a:lnTo>
                <a:lnTo>
                  <a:pt x="0" y="10298430"/>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69272" y="5595318"/>
            <a:ext cx="10149840" cy="1303020"/>
            <a:chOff x="0" y="0"/>
            <a:chExt cx="13533120" cy="1737360"/>
          </a:xfrm>
        </p:grpSpPr>
        <p:sp>
          <p:nvSpPr>
            <p:cNvPr name="Freeform 3" id="3"/>
            <p:cNvSpPr/>
            <p:nvPr/>
          </p:nvSpPr>
          <p:spPr>
            <a:xfrm flipH="false" flipV="false" rot="0">
              <a:off x="0" y="0"/>
              <a:ext cx="13533120" cy="1737360"/>
            </a:xfrm>
            <a:custGeom>
              <a:avLst/>
              <a:gdLst/>
              <a:ahLst/>
              <a:cxnLst/>
              <a:rect r="r" b="b" t="t" l="l"/>
              <a:pathLst>
                <a:path h="1737360" w="13533120">
                  <a:moveTo>
                    <a:pt x="0" y="0"/>
                  </a:moveTo>
                  <a:lnTo>
                    <a:pt x="13533120" y="0"/>
                  </a:lnTo>
                  <a:lnTo>
                    <a:pt x="13533120" y="1737360"/>
                  </a:lnTo>
                  <a:lnTo>
                    <a:pt x="0" y="1737360"/>
                  </a:lnTo>
                  <a:close/>
                </a:path>
              </a:pathLst>
            </a:custGeom>
            <a:blipFill>
              <a:blip r:embed="rId3">
                <a:alphaModFix amt="0"/>
              </a:blip>
              <a:stretch>
                <a:fillRect l="0" t="-101778" r="0" b="-101778"/>
              </a:stretch>
            </a:blipFill>
          </p:spPr>
        </p:sp>
        <p:sp>
          <p:nvSpPr>
            <p:cNvPr name="TextBox 4" id="4"/>
            <p:cNvSpPr txBox="true"/>
            <p:nvPr/>
          </p:nvSpPr>
          <p:spPr>
            <a:xfrm>
              <a:off x="0" y="-28575"/>
              <a:ext cx="13533120" cy="1765935"/>
            </a:xfrm>
            <a:prstGeom prst="rect">
              <a:avLst/>
            </a:prstGeom>
          </p:spPr>
          <p:txBody>
            <a:bodyPr anchor="ctr" rtlCol="false" tIns="0" lIns="0" bIns="0" rIns="0"/>
            <a:lstStyle/>
            <a:p>
              <a:pPr algn="l">
                <a:lnSpc>
                  <a:spcPts val="8280"/>
                </a:lnSpc>
              </a:pPr>
              <a:r>
                <a:rPr lang="en-US" sz="6900" b="true">
                  <a:solidFill>
                    <a:srgbClr val="14142B"/>
                  </a:solidFill>
                  <a:latin typeface="Arial Bold"/>
                  <a:ea typeface="Arial Bold"/>
                  <a:cs typeface="Arial Bold"/>
                  <a:sym typeface="Arial Bold"/>
                </a:rPr>
                <a:t>Thank you</a:t>
              </a:r>
            </a:p>
          </p:txBody>
        </p:sp>
      </p:grpSp>
      <p:grpSp>
        <p:nvGrpSpPr>
          <p:cNvPr name="Group 5" id="5"/>
          <p:cNvGrpSpPr/>
          <p:nvPr/>
        </p:nvGrpSpPr>
        <p:grpSpPr>
          <a:xfrm rot="0">
            <a:off x="1165860" y="8846820"/>
            <a:ext cx="15910560" cy="438912"/>
            <a:chOff x="0" y="0"/>
            <a:chExt cx="21214080" cy="585216"/>
          </a:xfrm>
        </p:grpSpPr>
        <p:sp>
          <p:nvSpPr>
            <p:cNvPr name="Freeform 6" id="6"/>
            <p:cNvSpPr/>
            <p:nvPr/>
          </p:nvSpPr>
          <p:spPr>
            <a:xfrm flipH="false" flipV="false" rot="0">
              <a:off x="0" y="0"/>
              <a:ext cx="21214080" cy="585216"/>
            </a:xfrm>
            <a:custGeom>
              <a:avLst/>
              <a:gdLst/>
              <a:ahLst/>
              <a:cxnLst/>
              <a:rect r="r" b="b" t="t" l="l"/>
              <a:pathLst>
                <a:path h="585216" w="21214080">
                  <a:moveTo>
                    <a:pt x="0" y="0"/>
                  </a:moveTo>
                  <a:lnTo>
                    <a:pt x="21214080" y="0"/>
                  </a:lnTo>
                  <a:lnTo>
                    <a:pt x="21214080" y="585216"/>
                  </a:lnTo>
                  <a:lnTo>
                    <a:pt x="0" y="585216"/>
                  </a:lnTo>
                  <a:close/>
                </a:path>
              </a:pathLst>
            </a:custGeom>
            <a:blipFill>
              <a:blip r:embed="rId3">
                <a:alphaModFix amt="0"/>
              </a:blip>
              <a:stretch>
                <a:fillRect l="0" t="-656332" r="0" b="-656332"/>
              </a:stretch>
            </a:blipFill>
          </p:spPr>
        </p:sp>
        <p:sp>
          <p:nvSpPr>
            <p:cNvPr name="TextBox 7" id="7"/>
            <p:cNvSpPr txBox="true"/>
            <p:nvPr/>
          </p:nvSpPr>
          <p:spPr>
            <a:xfrm>
              <a:off x="0" y="-28575"/>
              <a:ext cx="21214080" cy="613791"/>
            </a:xfrm>
            <a:prstGeom prst="rect">
              <a:avLst/>
            </a:prstGeom>
          </p:spPr>
          <p:txBody>
            <a:bodyPr anchor="ctr" rtlCol="false" tIns="0" lIns="0" bIns="0" rIns="0"/>
            <a:lstStyle/>
            <a:p>
              <a:pPr algn="l">
                <a:lnSpc>
                  <a:spcPts val="1980"/>
                </a:lnSpc>
              </a:pPr>
              <a:r>
                <a:rPr lang="en-US" sz="1650">
                  <a:solidFill>
                    <a:srgbClr val="63637E"/>
                  </a:solidFill>
                  <a:latin typeface="Calibri (MS)"/>
                  <a:ea typeface="Calibri (MS)"/>
                  <a:cs typeface="Calibri (MS)"/>
                  <a:sym typeface="Calibri (MS)"/>
                </a:rPr>
                <a:t>Organised by the Language AI Team and the PRISM Team, Samsung R&amp;D Institute India</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DAHWsaIfu-s</dc:identifier>
  <dcterms:modified xsi:type="dcterms:W3CDTF">2011-08-01T06:04:30Z</dcterms:modified>
  <cp:revision>1</cp:revision>
  <dc:title>CollegeName_TeamName_Submission.pptx</dc:title>
</cp:coreProperties>
</file>